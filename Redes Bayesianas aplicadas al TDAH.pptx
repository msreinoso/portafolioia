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78146C-B2B9-434E-BFCE-D33B1F6AE2A4}">
  <a:tblStyle styleId="{8C78146C-B2B9-434E-BFCE-D33B1F6AE2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22" Type="http://schemas.openxmlformats.org/officeDocument/2006/relationships/font" Target="fonts/Montserrat-italic.fntdata"/><Relationship Id="rId10" Type="http://schemas.openxmlformats.org/officeDocument/2006/relationships/slide" Target="slides/slide4.xml"/><Relationship Id="rId21" Type="http://schemas.openxmlformats.org/officeDocument/2006/relationships/font" Target="fonts/Montserra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1</a:t>
            </a:r>
            <a:endParaRPr/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2057400"/>
            <a:ext cx="116014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Redes Bayesianas aplicadas al TDAH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733800"/>
            <a:ext cx="1104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2C0CC"/>
                </a:solidFill>
                <a:latin typeface="Roboto"/>
                <a:ea typeface="Roboto"/>
                <a:cs typeface="Roboto"/>
                <a:sym typeface="Roboto"/>
              </a:rPr>
              <a:t>Modelado probabilístico para el diagnóstico del Trastorno por Déficit de Atención e Hiperactividad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72440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82C0CC"/>
                </a:solidFill>
                <a:latin typeface="Roboto"/>
                <a:ea typeface="Roboto"/>
                <a:cs typeface="Roboto"/>
                <a:sym typeface="Roboto"/>
              </a:rPr>
              <a:t>Elaborado por: Domenica Beltran, Mario Reinoso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44328"/>
            <a:ext cx="3492549" cy="23407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244328"/>
            <a:ext cx="3492549" cy="23407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244328"/>
            <a:ext cx="3492549" cy="2340768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CASO DE ESTUDIO: EL TDAH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2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966096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Referencia: Haan et al., 2022 (Addiction, PMC10308447).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7250" y="2577703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El Trastorno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3168253"/>
            <a:ext cx="2921049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El TDAH afecta la atención y el control de impulsos. Es complejo y se manifiesta tanto en niños como en adultos.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35549" y="2577703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La Complejidad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635549" y="3168253"/>
            <a:ext cx="2921049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Múltiples factores ambientales y genéticos influyen en su aparición, dificultando un diagnóstico binario simple.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13849" y="2577703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La Solución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413849" y="3168253"/>
            <a:ext cx="2921049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Las Redes Bayesianas modelan relaciones probabilísticas entre riesgos, estimando la verosimilitud del diagnóstico.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VARIABLES Y VALORES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3</a:t>
            </a:r>
            <a:endParaRPr/>
          </a:p>
        </p:txBody>
      </p:sp>
      <p:graphicFrame>
        <p:nvGraphicFramePr>
          <p:cNvPr id="114" name="Google Shape;114;p15"/>
          <p:cNvGraphicFramePr/>
          <p:nvPr/>
        </p:nvGraphicFramePr>
        <p:xfrm>
          <a:off x="571500" y="2581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{8C78146C-B2B9-434E-BFCE-D33B1F6AE2A4}</a:tableStyleId>
              </a:tblPr>
              <a:tblGrid>
                <a:gridCol w="2497325"/>
                <a:gridCol w="5650550"/>
                <a:gridCol w="2901100"/>
              </a:tblGrid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Valores posibles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Tabaco Prenatal (T)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Exposición materna al tabaco durante el embarazo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Alto (A) / Bajo (B)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Alcohol Prenatal (Al)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Consumo de alcohol materno durante el embarazo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Alto (A) / Bajo (B)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Pred. Genética (G)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Historial familiar de TDAH o trastornos relacionados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Sí (S) / No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TDAH (objetivo)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Diagnóstico de TDAH en el hijo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Verdadero (V) / Falso (F)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15"/>
          <p:cNvSpPr/>
          <p:nvPr/>
        </p:nvSpPr>
        <p:spPr>
          <a:xfrm>
            <a:off x="571500" y="3671887"/>
            <a:ext cx="24973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068835" y="3671887"/>
            <a:ext cx="56505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8719393" y="3671887"/>
            <a:ext cx="2901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4224337"/>
            <a:ext cx="24973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068835" y="4224337"/>
            <a:ext cx="56505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719393" y="4224337"/>
            <a:ext cx="2901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4776787"/>
            <a:ext cx="24973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068835" y="4776787"/>
            <a:ext cx="56505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719393" y="4776787"/>
            <a:ext cx="2901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571500" y="5329237"/>
            <a:ext cx="24973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068835" y="5329237"/>
            <a:ext cx="56505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719393" y="5329237"/>
            <a:ext cx="2901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ESTRUCTURA DE CAUSALIDAD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4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047750" y="2800350"/>
            <a:ext cx="4810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Nodos Padre:</a:t>
            </a: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T, Al y G influyen directamente sobre el TDAH.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047750" y="3562350"/>
            <a:ext cx="4810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Independencia:</a:t>
            </a: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No hay conexiones entre las variables de riesgo.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47750" y="4324350"/>
            <a:ext cx="48101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Cálculo:</a:t>
            </a: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La probabilidad final depende de la combinación de estados.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955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57587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1958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8588" y="2499263"/>
            <a:ext cx="5415409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8194350" y="2248313"/>
            <a:ext cx="167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Variables Independientes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437200" y="4386350"/>
            <a:ext cx="1190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Variable Objetivo</a:t>
            </a:r>
            <a:endParaRPr/>
          </a:p>
        </p:txBody>
      </p:sp>
      <p:cxnSp>
        <p:nvCxnSpPr>
          <p:cNvPr id="143" name="Google Shape;143;p16"/>
          <p:cNvCxnSpPr/>
          <p:nvPr/>
        </p:nvCxnSpPr>
        <p:spPr>
          <a:xfrm>
            <a:off x="7466125" y="3122363"/>
            <a:ext cx="842400" cy="57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6"/>
          <p:cNvCxnSpPr/>
          <p:nvPr/>
        </p:nvCxnSpPr>
        <p:spPr>
          <a:xfrm>
            <a:off x="9032550" y="3122363"/>
            <a:ext cx="0" cy="4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9861800" y="3122363"/>
            <a:ext cx="763500" cy="51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TABLAS DE PROBABILIDAD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5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61913" y="1294450"/>
            <a:ext cx="1160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Nodos raíz (probabilidades marginales) </a:t>
            </a:r>
            <a:endParaRPr/>
          </a:p>
        </p:txBody>
      </p:sp>
      <p:graphicFrame>
        <p:nvGraphicFramePr>
          <p:cNvPr id="154" name="Google Shape;154;p17"/>
          <p:cNvGraphicFramePr/>
          <p:nvPr/>
        </p:nvGraphicFramePr>
        <p:xfrm>
          <a:off x="3276975" y="3407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{8C78146C-B2B9-434E-BFCE-D33B1F6AE2A4}</a:tableStyleId>
              </a:tblPr>
              <a:tblGrid>
                <a:gridCol w="4023875"/>
                <a:gridCol w="2347625"/>
              </a:tblGrid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Combinación (T, Al, 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P(TDAH=V)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Alto, Alto, Sí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0.85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Alto, Alto, 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0.55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Bajo, Bajo, Sí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Bajo, Bajo, 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17"/>
          <p:cNvSpPr/>
          <p:nvPr/>
        </p:nvSpPr>
        <p:spPr>
          <a:xfrm>
            <a:off x="2197744" y="6691325"/>
            <a:ext cx="1760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/>
          </a:blip>
          <a:srcRect b="59775" l="0" r="7621" t="0"/>
          <a:stretch/>
        </p:blipFill>
        <p:spPr>
          <a:xfrm>
            <a:off x="4001800" y="1629750"/>
            <a:ext cx="4188400" cy="11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61913" y="3000800"/>
            <a:ext cx="1160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Tabla de probabilidad condicional P(TDAH = V | T, Al, G)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CASO 1: ALTO RIESGO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6</a:t>
            </a:r>
            <a:endParaRPr/>
          </a:p>
        </p:txBody>
      </p:sp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38400"/>
            <a:ext cx="42291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276850" y="2457450"/>
            <a:ext cx="66608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T=Alto, Al=Alto, G=Sí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5276850" y="4438650"/>
            <a:ext cx="63436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Interpretación: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La combinación de los tres factores máximos sitúa al diagnóstico en un escenario de riesgo crítico (Semáforo Rojo).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276850" y="2867025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C2626"/>
                </a:solidFill>
                <a:latin typeface="Montserrat"/>
                <a:ea typeface="Montserrat"/>
                <a:cs typeface="Montserrat"/>
                <a:sym typeface="Montserrat"/>
              </a:rPr>
              <a:t>85%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276850" y="4010025"/>
            <a:ext cx="2857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PROBABILIDAD TDAH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CASO 2: BAJO RIESGO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7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38400"/>
            <a:ext cx="42291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276850" y="2300287"/>
            <a:ext cx="66608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T=Bajo, Al=Bajo, G=No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276850" y="4281487"/>
            <a:ext cx="63436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Interpretación:</a:t>
            </a:r>
            <a:r>
              <a:rPr b="0" i="0" lang="en-US" sz="1650" u="none" cap="none" strike="noStrike">
                <a:solidFill>
                  <a:srgbClr val="334155"/>
                </a:solidFill>
                <a:latin typeface="Roboto"/>
                <a:ea typeface="Roboto"/>
                <a:cs typeface="Roboto"/>
                <a:sym typeface="Roboto"/>
              </a:rPr>
              <a:t> En ausencia de los factores de riesgo identificados, la probabilidad es mínima, sugiriendo un desarrollo típico (Semáforo Verde).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276850" y="2709862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16A34A"/>
                </a:solidFill>
                <a:latin typeface="Montserrat"/>
                <a:ea typeface="Montserrat"/>
                <a:cs typeface="Montserrat"/>
                <a:sym typeface="Montserrat"/>
              </a:rPr>
              <a:t>5%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5276850" y="3852862"/>
            <a:ext cx="2857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Roboto"/>
                <a:ea typeface="Roboto"/>
                <a:cs typeface="Roboto"/>
                <a:sym typeface="Roboto"/>
              </a:rPr>
              <a:t>PROBABILIDAD TDAH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1B2A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8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047750" y="2819400"/>
            <a:ext cx="10572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Las Redes Bayesianas integran múltiples factores para una estimación diagnóstica robusta.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1047750" y="3343275"/>
            <a:ext cx="10572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b="1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predisposición genética</a:t>
            </a: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emerge como el factor con mayor peso individual.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047750" y="3867150"/>
            <a:ext cx="10572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Los riesgos prenatales están frecuentemente mediados por factores genéticos compartidos.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047750" y="4391025"/>
            <a:ext cx="10572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Esta herramienta constituye un apoyo valioso para la toma de decisiones clínicas tempranas.</a:t>
            </a:r>
            <a:endParaRPr/>
          </a:p>
        </p:txBody>
      </p:sp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14637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3851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62387"/>
            <a:ext cx="3619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86262"/>
            <a:ext cx="2476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/>
        </p:nvSpPr>
        <p:spPr>
          <a:xfrm>
            <a:off x="11525250" y="64198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Slide 9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295275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Referencias Bibliográficas</a:t>
            </a:r>
            <a:endParaRPr/>
          </a:p>
        </p:txBody>
      </p:sp>
      <p:sp>
        <p:nvSpPr>
          <p:cNvPr id="203" name="Google Shape;203;p21"/>
          <p:cNvSpPr/>
          <p:nvPr/>
        </p:nvSpPr>
        <p:spPr>
          <a:xfrm>
            <a:off x="5524500" y="1409700"/>
            <a:ext cx="1143000" cy="5715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809750" y="2038350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1. Haan, E. et al. (2022). Prenatal smoking, alcohol and caffeine exposure and offspring externalizing disorders.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Addiction, 117</a:t>
            </a:r>
            <a:r>
              <a:rPr b="0" i="0" lang="en-US" sz="1500" u="none" cap="none" strike="noStrik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, 2602–2613.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809750" y="2990850"/>
            <a:ext cx="857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